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Medium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B98B00-817F-4A69-8472-9B9F4F32BACF}">
  <a:tblStyle styleId="{F2B98B00-817F-4A69-8472-9B9F4F32BA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44" y="48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897A1-C9DD-24FE-B4AC-F912104E2B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669338" y="63500"/>
            <a:ext cx="433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u-RU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697E6-29D0-CA2B-0CF5-3FEF8BE088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669338" y="63500"/>
            <a:ext cx="433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u-RU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2E3A6-1A01-DEEA-FB91-BAD84FCA06D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669338" y="63500"/>
            <a:ext cx="433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u-RU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Проектирование сетевой фабрики на основе </a:t>
            </a:r>
            <a:r>
              <a:rPr lang="ru-RU" sz="40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EVPN</a:t>
            </a:r>
            <a:endParaRPr lang="ru-RU"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ru-RU" sz="3000" dirty="0"/>
              <a:t>Проектирование сетевой фабрики на основе </a:t>
            </a:r>
            <a:r>
              <a:rPr lang="ru-RU" sz="3000" dirty="0" err="1"/>
              <a:t>VxLAN</a:t>
            </a:r>
            <a:r>
              <a:rPr lang="ru-RU" sz="3000" dirty="0"/>
              <a:t> EVPN</a:t>
            </a:r>
            <a:br>
              <a:rPr lang="ru-RU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 err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Димир</a:t>
            </a: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Асланов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767480"/>
            <a:ext cx="3574751" cy="114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«НИЖФАРМ»</a:t>
            </a:r>
            <a:b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Супервайзер группы компьютерных сетей</a:t>
            </a:r>
            <a:b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</a:br>
            <a:b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</a:b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" name="Picture 4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92F0E947-AD14-C8FB-1173-4D0754683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16" y="2088491"/>
            <a:ext cx="2215156" cy="23795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19268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 rot="10800000" flipV="1">
            <a:off x="1138125" y="2839775"/>
            <a:ext cx="12700" cy="541009"/>
          </a:xfrm>
          <a:prstGeom prst="bentConnector3">
            <a:avLst>
              <a:gd name="adj1" fmla="val 1904346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 rot="10800000" flipH="1" flipV="1">
            <a:off x="1138125" y="3380785"/>
            <a:ext cx="12" cy="580190"/>
          </a:xfrm>
          <a:prstGeom prst="bentConnector3">
            <a:avLst>
              <a:gd name="adj1" fmla="val -19050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68013"/>
            <a:ext cx="8379771" cy="64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24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2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24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2117205839"/>
              </p:ext>
            </p:extLst>
          </p:nvPr>
        </p:nvGraphicFramePr>
        <p:xfrm>
          <a:off x="391396" y="1988558"/>
          <a:ext cx="4295201" cy="2608236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32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2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5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архитектуру фабрики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lang="ru-RU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Разработать топологию 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Spine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базе Cisco 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Nexus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9000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Обеспечить отказоустойчивость (ECMP, vPC) и схему подключения FW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2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2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Underlay-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сеть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lang="ru-RU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IP-фабрику на базе OSPF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Обеспечить IP-доступность между VTEP (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Loopback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-интерфейсы)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2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560500" y="677411"/>
            <a:ext cx="8238943" cy="114476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</a:t>
            </a:r>
            <a:r>
              <a:rPr lang="ru-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с</a:t>
            </a:r>
            <a:r>
              <a:rPr lang="ru-RU" dirty="0"/>
              <a:t>проектировать и реализовать отказоустойчивую L2-сетевую фабрику ЦОД на базе VXLAN EVPN с использованием Cisco </a:t>
            </a:r>
            <a:r>
              <a:rPr lang="ru-RU" dirty="0" err="1"/>
              <a:t>Nexus</a:t>
            </a:r>
            <a:r>
              <a:rPr lang="ru-RU" dirty="0"/>
              <a:t> 9000, обеспечивающую масштабируемое расширение L2-сегментов и централизованную маршрутизацию и фильтрацию трафика на внешнем межсетевом экране.</a:t>
            </a:r>
            <a:endParaRPr lang="ru-RU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0" name="Google Shape;190;p39"/>
          <p:cNvSpPr txBox="1"/>
          <p:nvPr/>
        </p:nvSpPr>
        <p:spPr>
          <a:xfrm>
            <a:off x="6338543" y="518150"/>
            <a:ext cx="2894563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646E7E-F8FF-001F-A796-F1D1E9A29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153439"/>
              </p:ext>
            </p:extLst>
          </p:nvPr>
        </p:nvGraphicFramePr>
        <p:xfrm>
          <a:off x="4750385" y="1997178"/>
          <a:ext cx="4189886" cy="1219932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63308">
                  <a:extLst>
                    <a:ext uri="{9D8B030D-6E8A-4147-A177-3AD203B41FA5}">
                      <a16:colId xmlns:a16="http://schemas.microsoft.com/office/drawing/2014/main" val="4125591674"/>
                    </a:ext>
                  </a:extLst>
                </a:gridCol>
                <a:gridCol w="3726578">
                  <a:extLst>
                    <a:ext uri="{9D8B030D-6E8A-4147-A177-3AD203B41FA5}">
                      <a16:colId xmlns:a16="http://schemas.microsoft.com/office/drawing/2014/main" val="3870017244"/>
                    </a:ext>
                  </a:extLst>
                </a:gridCol>
              </a:tblGrid>
              <a:tr h="8122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/>
                        <a:t>Интегрировать межсетевой экран</a:t>
                      </a:r>
                      <a:endParaRPr lang="en-US" sz="1200" dirty="0"/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Обеспечить </a:t>
                      </a:r>
                      <a:r>
                        <a:rPr lang="ru-RU" sz="1200" dirty="0" err="1"/>
                        <a:t>терминацию</a:t>
                      </a:r>
                      <a:r>
                        <a:rPr lang="ru-RU" sz="1200" dirty="0"/>
                        <a:t> всех VLAN на FW </a:t>
                      </a:r>
                      <a:endParaRPr lang="en-US" sz="1200" dirty="0"/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Реализовать прохождение всего межсегментного трафика через FW</a:t>
                      </a:r>
                      <a:endParaRPr lang="en-US" sz="1200" dirty="0"/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3053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06C9AA-41C4-4951-3A44-0E4088EB7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79674"/>
              </p:ext>
            </p:extLst>
          </p:nvPr>
        </p:nvGraphicFramePr>
        <p:xfrm>
          <a:off x="4750386" y="3244026"/>
          <a:ext cx="4189886" cy="1008922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516864">
                  <a:extLst>
                    <a:ext uri="{9D8B030D-6E8A-4147-A177-3AD203B41FA5}">
                      <a16:colId xmlns:a16="http://schemas.microsoft.com/office/drawing/2014/main" val="2516957307"/>
                    </a:ext>
                  </a:extLst>
                </a:gridCol>
                <a:gridCol w="3673022">
                  <a:extLst>
                    <a:ext uri="{9D8B030D-6E8A-4147-A177-3AD203B41FA5}">
                      <a16:colId xmlns:a16="http://schemas.microsoft.com/office/drawing/2014/main" val="760277048"/>
                    </a:ext>
                  </a:extLst>
                </a:gridCol>
              </a:tblGrid>
              <a:tr h="3226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/>
                        <a:t>Провести тестирование и валидацию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Проверить L2-связность и работу через FW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Подтвердить отказоустойчивость фабрики при сбоях</a:t>
                      </a:r>
                      <a:endParaRPr lang="en-US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34699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067640-AE3E-8B1D-2F48-9117AB017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792795"/>
              </p:ext>
            </p:extLst>
          </p:nvPr>
        </p:nvGraphicFramePr>
        <p:xfrm>
          <a:off x="384770" y="4273238"/>
          <a:ext cx="6453352" cy="799308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67000">
                  <a:extLst>
                    <a:ext uri="{9D8B030D-6E8A-4147-A177-3AD203B41FA5}">
                      <a16:colId xmlns:a16="http://schemas.microsoft.com/office/drawing/2014/main" val="2745632988"/>
                    </a:ext>
                  </a:extLst>
                </a:gridCol>
                <a:gridCol w="5986352">
                  <a:extLst>
                    <a:ext uri="{9D8B030D-6E8A-4147-A177-3AD203B41FA5}">
                      <a16:colId xmlns:a16="http://schemas.microsoft.com/office/drawing/2014/main" val="2054020567"/>
                    </a:ext>
                  </a:extLst>
                </a:gridCol>
              </a:tblGrid>
              <a:tr h="6385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200" dirty="0"/>
                        <a:t>Реализовать </a:t>
                      </a:r>
                      <a:r>
                        <a:rPr lang="ru-RU" sz="1200" dirty="0" err="1"/>
                        <a:t>Overlay</a:t>
                      </a:r>
                      <a:r>
                        <a:rPr lang="ru-RU" sz="1200" dirty="0"/>
                        <a:t> VXLAN EVPN (L2):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VXLAN EVPN с использованием BGP EVPN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растяжение VLAN (L2VNI) и распространение MAC-адресов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26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5905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/>
              <a:t>Какие технологии использовались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D9FE2F-A0CD-6330-D642-8E30F9F4A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772536"/>
              </p:ext>
            </p:extLst>
          </p:nvPr>
        </p:nvGraphicFramePr>
        <p:xfrm>
          <a:off x="328256" y="649746"/>
          <a:ext cx="3915275" cy="2207484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32942">
                  <a:extLst>
                    <a:ext uri="{9D8B030D-6E8A-4147-A177-3AD203B41FA5}">
                      <a16:colId xmlns:a16="http://schemas.microsoft.com/office/drawing/2014/main" val="4125591674"/>
                    </a:ext>
                  </a:extLst>
                </a:gridCol>
                <a:gridCol w="3482333">
                  <a:extLst>
                    <a:ext uri="{9D8B030D-6E8A-4147-A177-3AD203B41FA5}">
                      <a16:colId xmlns:a16="http://schemas.microsoft.com/office/drawing/2014/main" val="3870017244"/>
                    </a:ext>
                  </a:extLst>
                </a:gridCol>
              </a:tblGrid>
              <a:tr h="8122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OSPF (</a:t>
                      </a:r>
                      <a:r>
                        <a:rPr lang="ru-RU" sz="1200" b="1" dirty="0" err="1"/>
                        <a:t>Underlay</a:t>
                      </a:r>
                      <a:r>
                        <a:rPr lang="ru-RU" sz="1200" b="1" dirty="0"/>
                        <a:t>)</a:t>
                      </a:r>
                    </a:p>
                    <a:p>
                      <a:r>
                        <a:rPr lang="ru-RU" sz="1200" b="1" dirty="0"/>
                        <a:t>Почему: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Простота настройки и отладки </a:t>
                      </a:r>
                    </a:p>
                    <a:p>
                      <a:r>
                        <a:rPr lang="ru-RU" sz="1200" dirty="0"/>
                        <a:t>Быстрая сходимость </a:t>
                      </a:r>
                    </a:p>
                    <a:p>
                      <a:r>
                        <a:rPr lang="ru-RU" sz="1200" dirty="0"/>
                        <a:t>Подходит для лабораторной и прод-среды</a:t>
                      </a:r>
                      <a:endParaRPr lang="ru-RU" sz="1200" b="1" dirty="0"/>
                    </a:p>
                    <a:p>
                      <a:r>
                        <a:rPr lang="ru-RU" sz="1200" b="1" dirty="0"/>
                        <a:t>Впечатление: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Надёжный и предсказуемый протокол. </a:t>
                      </a:r>
                    </a:p>
                    <a:p>
                      <a:r>
                        <a:rPr lang="ru-RU" sz="1200" dirty="0"/>
                        <a:t>Хорошо подходит для быстрой реализации IP-фабрики. Для прод</a:t>
                      </a:r>
                      <a:r>
                        <a:rPr lang="en-US" sz="1200" dirty="0"/>
                        <a:t>.</a:t>
                      </a:r>
                      <a:r>
                        <a:rPr lang="ru-RU" sz="1200" dirty="0"/>
                        <a:t> среды больше выбор склоняю к </a:t>
                      </a:r>
                      <a:r>
                        <a:rPr lang="en-US" sz="1200" dirty="0"/>
                        <a:t>eBGP.</a:t>
                      </a:r>
                      <a:endParaRPr lang="ru-RU" sz="1200" dirty="0"/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3053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6E1841-4353-9023-6779-6EA18F838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459023"/>
              </p:ext>
            </p:extLst>
          </p:nvPr>
        </p:nvGraphicFramePr>
        <p:xfrm>
          <a:off x="328256" y="2700366"/>
          <a:ext cx="3826301" cy="2573244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44351">
                  <a:extLst>
                    <a:ext uri="{9D8B030D-6E8A-4147-A177-3AD203B41FA5}">
                      <a16:colId xmlns:a16="http://schemas.microsoft.com/office/drawing/2014/main" val="2278229706"/>
                    </a:ext>
                  </a:extLst>
                </a:gridCol>
                <a:gridCol w="3381950">
                  <a:extLst>
                    <a:ext uri="{9D8B030D-6E8A-4147-A177-3AD203B41FA5}">
                      <a16:colId xmlns:a16="http://schemas.microsoft.com/office/drawing/2014/main" val="1209553689"/>
                    </a:ext>
                  </a:extLst>
                </a:gridCol>
              </a:tblGrid>
              <a:tr h="8122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VXLAN EVPN (L2 Overlay)</a:t>
                      </a:r>
                    </a:p>
                    <a:p>
                      <a:r>
                        <a:rPr lang="ru-RU" sz="1200" b="1" dirty="0"/>
                        <a:t>Почему: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Масштабируемое расширение </a:t>
                      </a:r>
                      <a:r>
                        <a:rPr lang="en-US" sz="1200" dirty="0"/>
                        <a:t>L2 </a:t>
                      </a:r>
                      <a:r>
                        <a:rPr lang="ru-RU" sz="1200" dirty="0"/>
                        <a:t>без ограничений </a:t>
                      </a:r>
                      <a:r>
                        <a:rPr lang="en-US" sz="1200" dirty="0"/>
                        <a:t>VLAN </a:t>
                      </a:r>
                    </a:p>
                    <a:p>
                      <a:r>
                        <a:rPr lang="en-US" sz="1200" dirty="0"/>
                        <a:t>Control-plane </a:t>
                      </a:r>
                      <a:r>
                        <a:rPr lang="ru-RU" sz="1200" dirty="0"/>
                        <a:t>через </a:t>
                      </a:r>
                      <a:r>
                        <a:rPr lang="en-US" sz="1200" dirty="0"/>
                        <a:t>EVPN </a:t>
                      </a:r>
                      <a:r>
                        <a:rPr lang="ru-RU" sz="1200" dirty="0"/>
                        <a:t>вместо </a:t>
                      </a:r>
                      <a:r>
                        <a:rPr lang="en-US" sz="1200" dirty="0"/>
                        <a:t>flood-and-learn </a:t>
                      </a:r>
                    </a:p>
                    <a:p>
                      <a:r>
                        <a:rPr lang="ru-RU" sz="1200" dirty="0"/>
                        <a:t>Стандарт де-факто для современных фабрик ЦОД </a:t>
                      </a:r>
                    </a:p>
                    <a:p>
                      <a:r>
                        <a:rPr lang="ru-RU" sz="1200" b="1" dirty="0"/>
                        <a:t>Впечатление: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Гибкая и масштабируемая технология </a:t>
                      </a:r>
                    </a:p>
                    <a:p>
                      <a:r>
                        <a:rPr lang="ru-RU" sz="1200" dirty="0"/>
                        <a:t>Требует понимания </a:t>
                      </a:r>
                      <a:r>
                        <a:rPr lang="en-US" sz="1200" dirty="0"/>
                        <a:t>EVPN (Type-2, BUM, VTEP</a:t>
                      </a:r>
                      <a:r>
                        <a:rPr lang="ru-RU" sz="1200" dirty="0"/>
                        <a:t>)</a:t>
                      </a:r>
                      <a:endParaRPr lang="en-US" sz="1200" dirty="0"/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43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B29DF0-BC1D-683A-70D3-457F30048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96521"/>
              </p:ext>
            </p:extLst>
          </p:nvPr>
        </p:nvGraphicFramePr>
        <p:xfrm>
          <a:off x="4572000" y="607008"/>
          <a:ext cx="4449150" cy="2024604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88923">
                  <a:extLst>
                    <a:ext uri="{9D8B030D-6E8A-4147-A177-3AD203B41FA5}">
                      <a16:colId xmlns:a16="http://schemas.microsoft.com/office/drawing/2014/main" val="2278229706"/>
                    </a:ext>
                  </a:extLst>
                </a:gridCol>
                <a:gridCol w="3960227">
                  <a:extLst>
                    <a:ext uri="{9D8B030D-6E8A-4147-A177-3AD203B41FA5}">
                      <a16:colId xmlns:a16="http://schemas.microsoft.com/office/drawing/2014/main" val="1209553689"/>
                    </a:ext>
                  </a:extLst>
                </a:gridCol>
              </a:tblGrid>
              <a:tr h="8122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BGP EVPN</a:t>
                      </a:r>
                    </a:p>
                    <a:p>
                      <a:r>
                        <a:rPr lang="ru-RU" sz="1200" b="1" dirty="0"/>
                        <a:t>Почему: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Распространение MAC-адресов через </a:t>
                      </a:r>
                      <a:r>
                        <a:rPr lang="ru-RU" sz="1200" dirty="0" err="1"/>
                        <a:t>control-plane</a:t>
                      </a:r>
                      <a:r>
                        <a:rPr lang="ru-RU" sz="1200" dirty="0"/>
                        <a:t> </a:t>
                      </a:r>
                    </a:p>
                    <a:p>
                      <a:r>
                        <a:rPr lang="ru-RU" sz="1200" dirty="0"/>
                        <a:t>Предсказуемость и снижение BUM-трафика </a:t>
                      </a:r>
                    </a:p>
                    <a:p>
                      <a:r>
                        <a:rPr lang="ru-RU" sz="1200" dirty="0"/>
                        <a:t>Масштабируемость </a:t>
                      </a:r>
                    </a:p>
                    <a:p>
                      <a:r>
                        <a:rPr lang="ru-RU" sz="1200" b="1" dirty="0"/>
                        <a:t>Впечатление: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Более управляемо, чем </a:t>
                      </a:r>
                      <a:r>
                        <a:rPr lang="ru-RU" sz="1200" dirty="0" err="1"/>
                        <a:t>flood-and-learn</a:t>
                      </a:r>
                      <a:r>
                        <a:rPr lang="ru-RU" sz="1200" dirty="0"/>
                        <a:t> </a:t>
                      </a:r>
                    </a:p>
                    <a:p>
                      <a:r>
                        <a:rPr lang="ru-RU" sz="1200" dirty="0"/>
                        <a:t>Удобная диагностика через BGP </a:t>
                      </a:r>
                    </a:p>
                    <a:p>
                      <a:r>
                        <a:rPr lang="ru-RU" sz="1200" dirty="0"/>
                        <a:t>Сложнее в начальной настройке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4310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6BD28C-5969-C84C-F498-C36F460AA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14214"/>
              </p:ext>
            </p:extLst>
          </p:nvPr>
        </p:nvGraphicFramePr>
        <p:xfrm>
          <a:off x="4621702" y="2411757"/>
          <a:ext cx="4054894" cy="1293084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42616">
                  <a:extLst>
                    <a:ext uri="{9D8B030D-6E8A-4147-A177-3AD203B41FA5}">
                      <a16:colId xmlns:a16="http://schemas.microsoft.com/office/drawing/2014/main" val="2278229706"/>
                    </a:ext>
                  </a:extLst>
                </a:gridCol>
                <a:gridCol w="3612278">
                  <a:extLst>
                    <a:ext uri="{9D8B030D-6E8A-4147-A177-3AD203B41FA5}">
                      <a16:colId xmlns:a16="http://schemas.microsoft.com/office/drawing/2014/main" val="1209553689"/>
                    </a:ext>
                  </a:extLst>
                </a:gridCol>
              </a:tblGrid>
              <a:tr h="8122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vPC</a:t>
                      </a:r>
                    </a:p>
                    <a:p>
                      <a:r>
                        <a:rPr lang="ru-RU" sz="1200" b="1" dirty="0"/>
                        <a:t>Почему: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Отказоустойчивое подключение хостов и FW </a:t>
                      </a:r>
                    </a:p>
                    <a:p>
                      <a:r>
                        <a:rPr lang="ru-RU" sz="1200" b="1" dirty="0"/>
                        <a:t>Впечатление: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Имеет нюансы с VXLAN (VTEP, </a:t>
                      </a:r>
                      <a:r>
                        <a:rPr lang="ru-RU" sz="1200" dirty="0" err="1"/>
                        <a:t>secondary</a:t>
                      </a:r>
                      <a:r>
                        <a:rPr lang="ru-RU" sz="1200" dirty="0"/>
                        <a:t> IP)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43106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3EE64C-DEFC-F829-36DC-415B97D5B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869149"/>
              </p:ext>
            </p:extLst>
          </p:nvPr>
        </p:nvGraphicFramePr>
        <p:xfrm>
          <a:off x="4621702" y="3594928"/>
          <a:ext cx="4194042" cy="1463010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457805">
                  <a:extLst>
                    <a:ext uri="{9D8B030D-6E8A-4147-A177-3AD203B41FA5}">
                      <a16:colId xmlns:a16="http://schemas.microsoft.com/office/drawing/2014/main" val="2278229706"/>
                    </a:ext>
                  </a:extLst>
                </a:gridCol>
                <a:gridCol w="3736237">
                  <a:extLst>
                    <a:ext uri="{9D8B030D-6E8A-4147-A177-3AD203B41FA5}">
                      <a16:colId xmlns:a16="http://schemas.microsoft.com/office/drawing/2014/main" val="1209553689"/>
                    </a:ext>
                  </a:extLst>
                </a:gridCol>
              </a:tblGrid>
              <a:tr h="8122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Централизованная маршрутизация через </a:t>
                      </a:r>
                      <a:r>
                        <a:rPr lang="en-US" sz="1200" b="1" dirty="0"/>
                        <a:t>FW</a:t>
                      </a:r>
                      <a:endParaRPr lang="ru-RU" sz="1200" b="1" dirty="0"/>
                    </a:p>
                    <a:p>
                      <a:r>
                        <a:rPr lang="ru-RU" sz="1200" b="1" dirty="0"/>
                        <a:t>Почему:</a:t>
                      </a:r>
                    </a:p>
                    <a:p>
                      <a:r>
                        <a:rPr lang="ru-RU" sz="1200" dirty="0"/>
                        <a:t>Упрощение контроля и соответствие требованиям безопасности</a:t>
                      </a:r>
                    </a:p>
                    <a:p>
                      <a:r>
                        <a:rPr lang="ru-RU" sz="1200" b="1" dirty="0"/>
                        <a:t>Впечатление: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Ограничивает масштабируемость по сравнению с </a:t>
                      </a:r>
                      <a:r>
                        <a:rPr lang="ru-RU" sz="1200" dirty="0" err="1"/>
                        <a:t>distributed</a:t>
                      </a:r>
                      <a:r>
                        <a:rPr lang="ru-RU" sz="1200" dirty="0"/>
                        <a:t> L3</a:t>
                      </a:r>
                      <a:endParaRPr lang="en-US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4310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198203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56395-BCA4-D559-733E-9D7D40162068}"/>
              </a:ext>
            </a:extLst>
          </p:cNvPr>
          <p:cNvSpPr txBox="1"/>
          <p:nvPr/>
        </p:nvSpPr>
        <p:spPr>
          <a:xfrm>
            <a:off x="1142605" y="1166492"/>
            <a:ext cx="7679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https://github.com/dimir-aslanov/otus-dc-network-design/tree/main/labs/project</a:t>
            </a:r>
            <a:endParaRPr lang="ru-RU" dirty="0"/>
          </a:p>
        </p:txBody>
      </p:sp>
      <p:pic>
        <p:nvPicPr>
          <p:cNvPr id="6" name="Google Shape;288;p49">
            <a:extLst>
              <a:ext uri="{FF2B5EF4-FFF2-40B4-BE49-F238E27FC236}">
                <a16:creationId xmlns:a16="http://schemas.microsoft.com/office/drawing/2014/main" id="{BE225A01-98BD-680F-4C2F-094AD27F72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11" y="1050802"/>
            <a:ext cx="422159" cy="42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04;p49">
            <a:extLst>
              <a:ext uri="{FF2B5EF4-FFF2-40B4-BE49-F238E27FC236}">
                <a16:creationId xmlns:a16="http://schemas.microsoft.com/office/drawing/2014/main" id="{3985282E-32A5-B7F5-3EAA-11B23C019E9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49" y="2799535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04;p49">
            <a:extLst>
              <a:ext uri="{FF2B5EF4-FFF2-40B4-BE49-F238E27FC236}">
                <a16:creationId xmlns:a16="http://schemas.microsoft.com/office/drawing/2014/main" id="{7F7EE573-58BD-CB1E-20ED-92C758CC75C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50" y="2035845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04;p49">
            <a:extLst>
              <a:ext uri="{FF2B5EF4-FFF2-40B4-BE49-F238E27FC236}">
                <a16:creationId xmlns:a16="http://schemas.microsoft.com/office/drawing/2014/main" id="{1B1DB96D-1AD6-9AAC-46FF-B9ED937444D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48" y="3528435"/>
            <a:ext cx="404231" cy="4042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676C7-A3FD-2727-D8DE-685E57FFD445}"/>
              </a:ext>
            </a:extLst>
          </p:cNvPr>
          <p:cNvSpPr txBox="1"/>
          <p:nvPr/>
        </p:nvSpPr>
        <p:spPr>
          <a:xfrm>
            <a:off x="1082970" y="1976349"/>
            <a:ext cx="2057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Спроектировать</a:t>
            </a:r>
            <a:b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архитектуру фабрики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3FF21-6630-D7F0-3546-E7C6B56C95EF}"/>
              </a:ext>
            </a:extLst>
          </p:cNvPr>
          <p:cNvSpPr txBox="1"/>
          <p:nvPr/>
        </p:nvSpPr>
        <p:spPr>
          <a:xfrm>
            <a:off x="1142605" y="2847760"/>
            <a:ext cx="2057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Underlay (OSPF)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EE859-B577-2F5A-32EC-65EA4CEC3F96}"/>
              </a:ext>
            </a:extLst>
          </p:cNvPr>
          <p:cNvSpPr txBox="1"/>
          <p:nvPr/>
        </p:nvSpPr>
        <p:spPr>
          <a:xfrm>
            <a:off x="1142605" y="3576660"/>
            <a:ext cx="2382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Overlay </a:t>
            </a:r>
            <a:r>
              <a:rPr lang="ru-RU" sz="1400" dirty="0"/>
              <a:t>VXLAN EVPN (L2)</a:t>
            </a:r>
            <a:endParaRPr lang="ru-RU" dirty="0"/>
          </a:p>
        </p:txBody>
      </p:sp>
      <p:pic>
        <p:nvPicPr>
          <p:cNvPr id="12" name="Google Shape;304;p49">
            <a:extLst>
              <a:ext uri="{FF2B5EF4-FFF2-40B4-BE49-F238E27FC236}">
                <a16:creationId xmlns:a16="http://schemas.microsoft.com/office/drawing/2014/main" id="{53E6833D-2321-7BBA-DA43-FC09C204C6F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21" y="4257335"/>
            <a:ext cx="404231" cy="40422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40374B-2736-D7ED-91A6-6C47347835FA}"/>
              </a:ext>
            </a:extLst>
          </p:cNvPr>
          <p:cNvSpPr txBox="1"/>
          <p:nvPr/>
        </p:nvSpPr>
        <p:spPr>
          <a:xfrm>
            <a:off x="1133088" y="4176070"/>
            <a:ext cx="1957557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Интегрировать межсетевой экран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29501C-71C3-C5E8-77CE-E90C45DEB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225" y="1976349"/>
            <a:ext cx="5642560" cy="25868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21341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330911454"/>
              </p:ext>
            </p:extLst>
          </p:nvPr>
        </p:nvGraphicFramePr>
        <p:xfrm>
          <a:off x="354776" y="947399"/>
          <a:ext cx="8206128" cy="3746144"/>
        </p:xfrm>
        <a:graphic>
          <a:graphicData uri="http://schemas.openxmlformats.org/drawingml/2006/table">
            <a:tbl>
              <a:tblPr>
                <a:noFill/>
                <a:tableStyleId>{F2B98B00-817F-4A69-8472-9B9F4F32BACF}</a:tableStyleId>
              </a:tblPr>
              <a:tblGrid>
                <a:gridCol w="554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Цель проекта была достигнута в полном объёме. Реализована L2-фабрика на базе VXLAN EVPN с централизованной маршрутизацией через межсетевой экран, а также выполнены все поставленные задачи, включая настройку </a:t>
                      </a:r>
                      <a:r>
                        <a:rPr lang="ru-RU" sz="1400" b="0" i="0" u="none" strike="noStrike" cap="none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underlay</a:t>
                      </a:r>
                      <a:r>
                        <a:rPr lang="ru-RU" sz="1400" b="0" i="0" u="none" strike="noStrike" cap="none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, </a:t>
                      </a:r>
                      <a:r>
                        <a:rPr lang="ru-RU" sz="1400" b="0" i="0" u="none" strike="noStrike" cap="none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overlay</a:t>
                      </a:r>
                      <a:r>
                        <a:rPr lang="ru-RU" sz="1400" b="0" i="0" u="none" strike="noStrike" cap="none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 отказоустойчивости.</a:t>
                      </a:r>
                      <a:endParaRPr sz="1400" b="0" i="0" u="none" strike="noStrike" cap="none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Трудностей не возникло, всё получилось согласно пройденным урокам.</a:t>
                      </a:r>
                      <a:endParaRPr sz="14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является следствием из лабораторных работ.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7/10 </a:t>
                      </a:r>
                      <a:r>
                        <a:rPr lang="ru-RU" sz="1400" b="0" i="0" u="none" strike="noStrike" cap="none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– </a:t>
                      </a:r>
                      <a:r>
                        <a:rPr lang="ru-RU" sz="1400" b="0" i="0" u="none" strike="noStrike" cap="none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проект оказался полезным, так как позволил закрепить знания на практике и привязать лабораторные сценарии к реальной архитектуре ЦОД. </a:t>
                      </a:r>
                      <a:endParaRPr sz="1400" b="0" i="0" u="none" strike="noStrike" cap="none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Ключевые вопросы закрыты</a:t>
                      </a:r>
                      <a:endParaRPr sz="14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6454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Планирую развивать компетенции через практическую реализацию аналогичных решений в реальных кейсах</a:t>
                      </a: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8599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506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Roboto Medium</vt:lpstr>
      <vt:lpstr>Courier New</vt:lpstr>
      <vt:lpstr>Roboto</vt:lpstr>
      <vt:lpstr>Arial</vt:lpstr>
      <vt:lpstr>Calibri</vt:lpstr>
      <vt:lpstr>Светлая тема</vt:lpstr>
      <vt:lpstr>Светлая тема</vt:lpstr>
      <vt:lpstr>Светлая тема</vt:lpstr>
      <vt:lpstr>PowerPoint Presentation</vt:lpstr>
      <vt:lpstr>Меня хорошо видно &amp; слышно?</vt:lpstr>
      <vt:lpstr>Защита проекта Тема: Проектирование сетевой фабрики на основе VxLAN EVPN    </vt:lpstr>
      <vt:lpstr>План защиты</vt:lpstr>
      <vt:lpstr>PowerPoint Presentation</vt:lpstr>
      <vt:lpstr>Какие технологии использовались </vt:lpstr>
      <vt:lpstr>Что получилось</vt:lpstr>
      <vt:lpstr>Выводы </vt:lpstr>
      <vt:lpstr>Спасибо за внимание!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Dimir Aslanov</dc:creator>
  <cp:lastModifiedBy>Dimir Aslanov</cp:lastModifiedBy>
  <cp:revision>4</cp:revision>
  <dcterms:modified xsi:type="dcterms:W3CDTF">2026-03-27T18:28:19Z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53c176-a2f2-4be2-8179-4aaddf5854c7_Enabled">
    <vt:lpwstr>true</vt:lpwstr>
  </property>
  <property fmtid="{D5CDD505-2E9C-101B-9397-08002B2CF9AE}" pid="3" name="MSIP_Label_6253c176-a2f2-4be2-8179-4aaddf5854c7_SetDate">
    <vt:lpwstr>2026-03-26T18:47:54Z</vt:lpwstr>
  </property>
  <property fmtid="{D5CDD505-2E9C-101B-9397-08002B2CF9AE}" pid="4" name="MSIP_Label_6253c176-a2f2-4be2-8179-4aaddf5854c7_Method">
    <vt:lpwstr>Standard</vt:lpwstr>
  </property>
  <property fmtid="{D5CDD505-2E9C-101B-9397-08002B2CF9AE}" pid="5" name="MSIP_Label_6253c176-a2f2-4be2-8179-4aaddf5854c7_Name">
    <vt:lpwstr>Internal</vt:lpwstr>
  </property>
  <property fmtid="{D5CDD505-2E9C-101B-9397-08002B2CF9AE}" pid="6" name="MSIP_Label_6253c176-a2f2-4be2-8179-4aaddf5854c7_SiteId">
    <vt:lpwstr>bead5117-9c3e-4ba4-8c6a-360637fe4689</vt:lpwstr>
  </property>
  <property fmtid="{D5CDD505-2E9C-101B-9397-08002B2CF9AE}" pid="7" name="MSIP_Label_6253c176-a2f2-4be2-8179-4aaddf5854c7_ActionId">
    <vt:lpwstr>660e44a5-c7b5-4c5c-9456-691f1a5f7536</vt:lpwstr>
  </property>
  <property fmtid="{D5CDD505-2E9C-101B-9397-08002B2CF9AE}" pid="8" name="MSIP_Label_6253c176-a2f2-4be2-8179-4aaddf5854c7_ContentBits">
    <vt:lpwstr>1</vt:lpwstr>
  </property>
  <property fmtid="{D5CDD505-2E9C-101B-9397-08002B2CF9AE}" pid="9" name="ClassificationContentMarkingHeaderLocations">
    <vt:lpwstr>Светлая тема:3\Светлая тема:3\Светлая тема:3</vt:lpwstr>
  </property>
  <property fmtid="{D5CDD505-2E9C-101B-9397-08002B2CF9AE}" pid="10" name="ClassificationContentMarkingHeaderText">
    <vt:lpwstr>INTERNAL</vt:lpwstr>
  </property>
</Properties>
</file>